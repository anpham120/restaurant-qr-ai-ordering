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Kết quả</c:v>
                </c:pt>
              </c:strCache>
            </c:strRef>
          </c:tx>
          <c:spPr>
            <a:solidFill>
              <a:srgbClr val="005BA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8233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5BA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8BCE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Retrieval
Hit@5</c:v>
                  </c:pt>
                  <c:pt idx="1">
                    <c:v>Guardrail
Accuracy</c:v>
                  </c:pt>
                  <c:pt idx="2">
                    <c:v>Overall
Pass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78.6</c:v>
                </c:pt>
                <c:pt idx="1">
                  <c:v>100</c:v>
                </c:pt>
                <c:pt idx="2">
                  <c:v>80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08233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08233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67A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188720"/>
            <a:ext cx="3108960" cy="3108960"/>
          </a:xfrm>
          <a:prstGeom prst="ellipse">
            <a:avLst/>
          </a:prstGeom>
          <a:solidFill>
            <a:srgbClr val="0067C7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560320" cy="2560320"/>
          </a:xfrm>
          <a:prstGeom prst="ellipse">
            <a:avLst/>
          </a:prstGeom>
          <a:solidFill>
            <a:srgbClr val="08BCEF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8B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 ÁN MÔN HỌC · HỌC MÁY &amp; KHAI PHÁ DỮ LIỆU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Xây dựng Chatbot đặt món nhà hàng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ứng dụng LLM và RAG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8B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 Restaurant Food-Ordering Chatbot using LLM and RAG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3931920" cy="0"/>
          </a:xfrm>
          <a:prstGeom prst="line">
            <a:avLst/>
          </a:prstGeom>
          <a:noFill/>
          <a:ln w="31750">
            <a:solidFill>
              <a:srgbClr val="00A9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Sinh viên thực hiện: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[Họ và tên] — [MSSV]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Giảng viên hướng dẫn: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[Tên giảng viên]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Lớp / Khóa:  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[Lớp]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CMC University · Tháng 6,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THIỆU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Đặt vấn đề &amp; Mục tiêu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Bối cảnh &amp; Vấn đề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Nhà hàng dùng QR gọi món; khách hỏi rất nhiều: menu, combo, dị ứng, giờ mở cửa, thanh toán.</a:t>
            </a:r>
            <a:endParaRPr lang="en-US" sz="14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Nhân viên quá tải, trả lời chậm và thiếu nhất quán.</a:t>
            </a:r>
            <a:endParaRPr lang="en-US" sz="14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 ngây thơ dễ bịa giá / bịa món, thậm chí tự đặt đơn — rủi ro vận hành.</a:t>
            </a:r>
            <a:endParaRPr lang="en-US" sz="1450" dirty="0"/>
          </a:p>
          <a:p>
            <a:pPr marL="342900" indent="-342900">
              <a:lnSpc>
                <a:spcPct val="100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Cần trợ lý AI bám sát dữ liệu thật, an toàn và đo lường được.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đồ án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 RAG trả lời dựa trên kho tri thức (KB) của nhà hàng, có trích nguồn.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 AI: guardrails chặn bịa giá/món, AI không bao giờ tự đặt đơn.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định lượng bằng bộ câu hỏi chuẩn (golden questions).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vào hệ thống thật: React + .NET + dịch vụ AI (Python).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KHUNG LÝ THUYẾT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Góc nhìn Học máy &amp; Khai phá dữ liệu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210312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84248"/>
            <a:ext cx="475488" cy="475488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Truy xuất thông tin (IR)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Okapi BM25 xếp hạng đoạn văn bản liên quan theo TF–IDF; nền tảng của bước Retrieval.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349240" cy="21031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691640"/>
            <a:ext cx="82296" cy="210312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2" name="Shape 10"/>
          <p:cNvSpPr/>
          <p:nvPr/>
        </p:nvSpPr>
        <p:spPr>
          <a:xfrm>
            <a:off x="6537960" y="1984248"/>
            <a:ext cx="475488" cy="475488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178040" y="198424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Khai phá dữ liệu văn bản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37960" y="2651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Tách tài liệu thành chunk, trọng số term; luật kết hợp gợi ý cặp món (combo).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349240" cy="21031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69080"/>
            <a:ext cx="82296" cy="2103120"/>
          </a:xfrm>
          <a:prstGeom prst="rect">
            <a:avLst/>
          </a:prstGeom>
          <a:solidFill>
            <a:srgbClr val="08BCE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361688"/>
            <a:ext cx="475488" cy="475488"/>
          </a:xfrm>
          <a:prstGeom prst="ellipse">
            <a:avLst/>
          </a:prstGeom>
          <a:solidFill>
            <a:srgbClr val="08BCEF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61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361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 hình ngôn ngữ (LLM)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22960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Transformer sinh câu trả lời tự nhiên từ ngữ cảnh đã truy xuất.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263640" y="4069080"/>
            <a:ext cx="5349240" cy="21031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4069080"/>
            <a:ext cx="82296" cy="21031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37960" y="4361688"/>
            <a:ext cx="475488" cy="475488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25" name="Text 23"/>
          <p:cNvSpPr/>
          <p:nvPr/>
        </p:nvSpPr>
        <p:spPr>
          <a:xfrm>
            <a:off x="6537960" y="43616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78040" y="436168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mô hình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537960" y="502920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set + các chỉ số hit-rate, accuracy, pass-rate để đo chất lượng khách quan.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PHÁP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Lựa chọn kỹ thuật &amp; Đánh đổi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 vs  Fine-tuning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A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Chọn RAG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Cập nhật KB tức thì, không cần huấn luyện lại.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Trích dẫn nguồn → minh bạch, chống bịa đặt.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Rẻ, không cần GPU; phù hợp dữ liệu nhà hàng hay đổi.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Fine-tuning: tốn dữ liệu + GPU, khó cập nhật, dễ "học vẹt".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 vs  Embeddings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b="1" dirty="0">
                <a:solidFill>
                  <a:srgbClr val="00A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Chọn BM25 (Okapi)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KB nhỏ (35 chunk) → thống kê từ khóa đã đủ chính xác.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cần model embedding / vector DB / GPU.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Minh bạch, dễ giải thích; tiếng Việt ổn nhờ chuẩn hóa bỏ dấu.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Embeddings: nặng hạ tầng, lợi ích nhỏ ở quy mô KB này.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hệ thống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85800" y="25146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514600"/>
            <a:ext cx="82296" cy="155448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Khách hàng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31729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chat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(QR)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91256" y="3291840"/>
            <a:ext cx="310896" cy="0"/>
          </a:xfrm>
          <a:prstGeom prst="line">
            <a:avLst/>
          </a:prstGeom>
          <a:noFill/>
          <a:ln w="3175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8728" y="25146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8728" y="2514600"/>
            <a:ext cx="82296" cy="1554480"/>
          </a:xfrm>
          <a:prstGeom prst="rect">
            <a:avLst/>
          </a:prstGeom>
          <a:solidFill>
            <a:srgbClr val="08233E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75888" y="31729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.NET API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xác thực đơn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44184" y="3291840"/>
            <a:ext cx="310896" cy="0"/>
          </a:xfrm>
          <a:prstGeom prst="line">
            <a:avLst/>
          </a:prstGeom>
          <a:noFill/>
          <a:ln w="3175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91656" y="25146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91656" y="2514600"/>
            <a:ext cx="82296" cy="155448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6" name="Text 14"/>
          <p:cNvSpPr/>
          <p:nvPr/>
        </p:nvSpPr>
        <p:spPr>
          <a:xfrm>
            <a:off x="6528816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A9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Dịch vụ AI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28816" y="31729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+ LLM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(Python)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897112" y="3291840"/>
            <a:ext cx="310896" cy="0"/>
          </a:xfrm>
          <a:prstGeom prst="line">
            <a:avLst/>
          </a:prstGeom>
          <a:noFill/>
          <a:ln w="31750">
            <a:solidFill>
              <a:srgbClr val="005BAC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244584" y="251460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44584" y="2514600"/>
            <a:ext cx="82296" cy="155448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21" name="Text 19"/>
          <p:cNvSpPr/>
          <p:nvPr/>
        </p:nvSpPr>
        <p:spPr>
          <a:xfrm>
            <a:off x="9381744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0A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381744" y="31729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tài liệu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chunks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91656" y="4709160"/>
            <a:ext cx="2468880" cy="914400"/>
          </a:xfrm>
          <a:prstGeom prst="rect">
            <a:avLst/>
          </a:prstGeom>
          <a:solidFill>
            <a:srgbClr val="EAF7FC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91656" y="4709160"/>
            <a:ext cx="82296" cy="914400"/>
          </a:xfrm>
          <a:prstGeom prst="rect">
            <a:avLst/>
          </a:prstGeom>
          <a:solidFill>
            <a:srgbClr val="08BCEF"/>
          </a:solidFill>
          <a:ln/>
        </p:spPr>
      </p:sp>
      <p:sp>
        <p:nvSpPr>
          <p:cNvPr id="25" name="Text 23"/>
          <p:cNvSpPr/>
          <p:nvPr/>
        </p:nvSpPr>
        <p:spPr>
          <a:xfrm>
            <a:off x="6483096" y="481888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3.1 Pro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83096" y="5166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 gateway OpenAI-compatible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26096" y="4105656"/>
            <a:ext cx="0" cy="566928"/>
          </a:xfrm>
          <a:prstGeom prst="line">
            <a:avLst/>
          </a:prstGeom>
          <a:noFill/>
          <a:ln w="31750">
            <a:solidFill>
              <a:srgbClr val="00A99D"/>
            </a:solidFill>
            <a:prstDash val="solid"/>
            <a:headEnd type="triangl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 mỗi câu hỏi:  Guardrails đầu vào  →  BM25 truy xuất (top-k=5)  →  Dựng prompt  →  LLM sinh JSON  →  Output Parser kiểm duyệt  →  Trả gợi ý (khách xác nhận).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TRUY XUẤT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&amp; BM25 Retriever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84632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Kho tri thức (KB)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indent="0" marL="0">
              <a:buNone/>
            </a:pPr>
            <a:r>
              <a:rPr lang="en-US" sz="16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tài liệu .md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A9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pPr indent="0" marL="0">
              <a:buNone/>
            </a:pPr>
            <a:r>
              <a:rPr lang="en-US" sz="16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chunks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4251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Nội dung: menu, combo, chính sách đặt món, dị ứng, FAQ…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Mỗi chunk có title + tag để tăng độ chính xác truy xuất.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760720" y="1691640"/>
            <a:ext cx="585216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760720" y="1691640"/>
            <a:ext cx="82296" cy="448056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2" name="Text 10"/>
          <p:cNvSpPr/>
          <p:nvPr/>
        </p:nvSpPr>
        <p:spPr>
          <a:xfrm>
            <a:off x="6035040" y="192024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9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Okapi BM25 — tham số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2560320"/>
            <a:ext cx="2331720" cy="502920"/>
          </a:xfrm>
          <a:prstGeom prst="rect">
            <a:avLst/>
          </a:prstGeom>
          <a:solidFill>
            <a:srgbClr val="EAF7FC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5603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k1 = 1.5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03920" y="2560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độ bão hòa tần suất từ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3145536"/>
            <a:ext cx="2331720" cy="502920"/>
          </a:xfrm>
          <a:prstGeom prst="rect">
            <a:avLst/>
          </a:prstGeom>
          <a:solidFill>
            <a:srgbClr val="EAF7FC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1455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= 0.75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31455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chuẩn hóa theo độ dài đoạn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035040" y="3730752"/>
            <a:ext cx="2331720" cy="502920"/>
          </a:xfrm>
          <a:prstGeom prst="rect">
            <a:avLst/>
          </a:prstGeom>
          <a:solidFill>
            <a:srgbClr val="EAF7FC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73075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TITLE_BOOST × 1.5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37307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tiên khớp ở tiêu đề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4315968"/>
            <a:ext cx="2331720" cy="502920"/>
          </a:xfrm>
          <a:prstGeom prst="rect">
            <a:avLst/>
          </a:prstGeom>
          <a:solidFill>
            <a:srgbClr val="EAF7FC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431596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TAG_BOOST × 1.0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03920" y="43159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khớp theo nhãn chủ đề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035040" y="4901184"/>
            <a:ext cx="2331720" cy="502920"/>
          </a:xfrm>
          <a:prstGeom prst="rect">
            <a:avLst/>
          </a:prstGeom>
          <a:solidFill>
            <a:srgbClr val="EAF7FC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490118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top_k = 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03920" y="49011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số đoạn đưa vào ngữ cảnh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035040" y="552297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Chuẩn hóa tiếng Việt (bỏ dấu, lowercase) trước khi đánh chỉ mục → khớp bền vững với cách gõ của khách.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 AI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Guardrails — Hệ thống an toàn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20040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82296" cy="32004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cờ kiểm soát đầu vào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846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CUSTOMER_CONFIRMATION_REQUIRED — ý định đặt đơn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PRICE_FABRICATION_BLOCKED — đòi bịa giá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MENU_FABRICATION_BLOCKED — đòi món ngoài thực đơn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OUT_OF_SCOPE — lạc chủ đề (thời tiết, code…)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PROFANITY_DETECTED — ngôn từ xúc phạm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1645920"/>
            <a:ext cx="5349240" cy="320040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45920"/>
            <a:ext cx="82296" cy="32004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470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cờ hệ thống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AI_OUTPUT_SCHEMA_INVALID — LLM trả sai cấu trúc JSON → chặn cứng đầu ra.</a:t>
            </a:r>
            <a:endParaRPr lang="en-US" sz="132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2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AI_PROVIDER_UNAVAILABLE — LLM lỗi/timeout → rơi về chế độ RAG-only an toàn.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6537960" y="411480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Phòng thủ nhiều lớp: input → output → backend đều kiểm tra lại.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solidFill>
            <a:srgbClr val="08233E"/>
          </a:solidFill>
          <a:ln/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8B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Nguyên tắc cốt lõi: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KHÔNG BAO GIỜ tự đặt đơn.  </a:t>
            </a:r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requires_customer_confirmation = true (luôn luôn) — khách phải tự bấm xác nhận.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DUYỆT ĐẦU 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Parser — Lọc &amp; xác thực phản hồi LLM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475488" cy="475488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1783080"/>
            <a:ext cx="10332720" cy="7315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1783080"/>
            <a:ext cx="82296" cy="73152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17830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Trích JSON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297680" y="1783080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Bóc khối JSON từ phản hồi thô của LLM.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807208"/>
            <a:ext cx="475488" cy="475488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07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80160" y="2624328"/>
            <a:ext cx="10332720" cy="7315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80160" y="2624328"/>
            <a:ext cx="82296" cy="73152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262432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tra schema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297680" y="2624328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suggested_cart_actions phải là list; sai → cờ AI_OUTPUT_SCHEMA_INVALID, chặn.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3648456"/>
            <a:ext cx="475488" cy="475488"/>
          </a:xfrm>
          <a:prstGeom prst="ellipse">
            <a:avLst/>
          </a:prstGeom>
          <a:solidFill>
            <a:srgbClr val="08BCEF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648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80160" y="3465576"/>
            <a:ext cx="10332720" cy="7315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3465576"/>
            <a:ext cx="82296" cy="731520"/>
          </a:xfrm>
          <a:prstGeom prst="rect">
            <a:avLst/>
          </a:prstGeom>
          <a:solidFill>
            <a:srgbClr val="08BCEF"/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3465576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Đối chiếu menu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297680" y="3465576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Chỉ giữ món có ID hợp lệ &amp; còn bán; món bịa bị loại.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4489704"/>
            <a:ext cx="475488" cy="475488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44897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80160" y="4306824"/>
            <a:ext cx="10332720" cy="7315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80160" y="4306824"/>
            <a:ext cx="82296" cy="73152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26" name="Text 24"/>
          <p:cNvSpPr/>
          <p:nvPr/>
        </p:nvSpPr>
        <p:spPr>
          <a:xfrm>
            <a:off x="1508760" y="4306824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Chuẩn hóa số lượng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297680" y="4306824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Clamp quantity về khoảng 1–20, tránh giá trị bất thường.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5330952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5330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80160" y="5148072"/>
            <a:ext cx="10332720" cy="7315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5148072"/>
            <a:ext cx="82296" cy="73152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32" name="Text 30"/>
          <p:cNvSpPr/>
          <p:nvPr/>
        </p:nvSpPr>
        <p:spPr>
          <a:xfrm>
            <a:off x="1508760" y="5148072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Ép xác nhận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297680" y="5148072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Mọi gợi ý đều requires_customer_confirmation = true.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Backend .NET vẫn kiểm tra lại toàn bộ đơn trước khi ghi DB. AI chỉ gợi ý, không có quyền ghi.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 — Đo hiệu năng RAG</a:t>
            </a:r>
            <a:endParaRPr lang="en-US" sz="2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91640"/>
            <a:ext cx="4023360" cy="438912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0" y="1691640"/>
            <a:ext cx="82296" cy="438912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0" y="1920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99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pháp đánh giá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863840" y="242316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golden questions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phủ: gợi ý món, FAQ, dị ứng, chính sách, các ca guardrail.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Retrieval Hit@5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có lấy đúng nguồn kỳ vọng? → 11/14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0A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 Accuracy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phát hiện đúng cờ an toàn? → 4/4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08B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Overall Pass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đạt yêu cầu tổng thể → 12/15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8BCEF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280160"/>
            <a:ext cx="3291840" cy="3291840"/>
          </a:xfrm>
          <a:prstGeom prst="ellipse">
            <a:avLst/>
          </a:prstGeom>
          <a:solidFill>
            <a:srgbClr val="00A99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8B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TRÌNH DIỄN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trực tiếp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Chạy hệ thống thật: React + .NET + dịch vụ AI. Các kịch bản minh họa: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349240" cy="1554480"/>
          </a:xfrm>
          <a:prstGeom prst="rect">
            <a:avLst/>
          </a:prstGeom>
          <a:solidFill>
            <a:srgbClr val="0E3454"/>
          </a:solidFill>
          <a:ln w="12700">
            <a:solidFill>
              <a:srgbClr val="1C4A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971800"/>
            <a:ext cx="475488" cy="475488"/>
          </a:xfrm>
          <a:prstGeom prst="ellipse">
            <a:avLst/>
          </a:prstGeom>
          <a:solidFill>
            <a:srgbClr val="005BAC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29535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Gợi ý món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“Gợi ý món cho 2 người ăn trưa” → card món + nút xác nhận.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263640" y="2697480"/>
            <a:ext cx="5349240" cy="1554480"/>
          </a:xfrm>
          <a:prstGeom prst="rect">
            <a:avLst/>
          </a:prstGeom>
          <a:solidFill>
            <a:srgbClr val="0E3454"/>
          </a:solidFill>
          <a:ln w="12700">
            <a:solidFill>
              <a:srgbClr val="1C4A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2971800"/>
            <a:ext cx="475488" cy="475488"/>
          </a:xfrm>
          <a:prstGeom prst="ellipse">
            <a:avLst/>
          </a:prstGeom>
          <a:solidFill>
            <a:srgbClr val="00A99D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178040" y="29535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Hỏi đáp FAQ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37960" y="35387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“Mở cửa mấy giờ? Thanh toán thế nào?” → trả lời từ KB.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5349240" cy="1554480"/>
          </a:xfrm>
          <a:prstGeom prst="rect">
            <a:avLst/>
          </a:prstGeom>
          <a:solidFill>
            <a:srgbClr val="0E3454"/>
          </a:solidFill>
          <a:ln w="12700">
            <a:solidFill>
              <a:srgbClr val="1C4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4800600"/>
            <a:ext cx="475488" cy="475488"/>
          </a:xfrm>
          <a:prstGeom prst="ellipse">
            <a:avLst/>
          </a:prstGeom>
          <a:solidFill>
            <a:srgbClr val="00A86B"/>
          </a:solidFill>
          <a:ln/>
        </p:spPr>
      </p:sp>
      <p:sp>
        <p:nvSpPr>
          <p:cNvPr id="19" name="Text 17"/>
          <p:cNvSpPr/>
          <p:nvPr/>
        </p:nvSpPr>
        <p:spPr>
          <a:xfrm>
            <a:off x="804672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47823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Dị ứng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53675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“Tôi dị ứng hải sản, tránh món nào?” → tránh đúng món.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6263640" y="4526280"/>
            <a:ext cx="5349240" cy="1554480"/>
          </a:xfrm>
          <a:prstGeom prst="rect">
            <a:avLst/>
          </a:prstGeom>
          <a:solidFill>
            <a:srgbClr val="0E3454"/>
          </a:solidFill>
          <a:ln w="12700">
            <a:solidFill>
              <a:srgbClr val="1C4A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19672" y="4800600"/>
            <a:ext cx="475488" cy="475488"/>
          </a:xfrm>
          <a:prstGeom prst="ellipse">
            <a:avLst/>
          </a:prstGeom>
          <a:solidFill>
            <a:srgbClr val="B42318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48006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178040" y="4782312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Guardrail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537960" y="5367528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8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“Hôm nay thời tiết thế nào?” → chặn OUT_OF_SCOPE, kéo về chủ đề.</a:t>
            </a:r>
            <a:endParaRPr lang="en-US" sz="1280" dirty="0"/>
          </a:p>
        </p:txBody>
      </p:sp>
      <p:sp>
        <p:nvSpPr>
          <p:cNvPr id="27" name="Text 25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05B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PHẢN BIỆN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Hạn chế &amp; Hướng phát triển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4480560"/>
          </a:xfrm>
          <a:prstGeom prst="rect">
            <a:avLst/>
          </a:prstGeom>
          <a:solidFill>
            <a:srgbClr val="B4231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Hạn chế (Threats to validity)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KB nhỏ (35 chunk) → kết quả chưa đại diện quy mô lớn.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set 15 câu, do một người gán nhãn → có thiên lệch.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Khi không có API, đánh giá chạy ở chế độ RAG-only fallback → chưa phản ánh đầy đủ chất lượng LLM.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BM25 dựa từ khóa, chưa hiểu ngữ nghĩa sâu / đồng nghĩa.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4480560"/>
          </a:xfrm>
          <a:prstGeom prst="rect">
            <a:avLst/>
          </a:prstGeom>
          <a:solidFill>
            <a:srgbClr val="F2FAFD"/>
          </a:solidFill>
          <a:ln w="12700">
            <a:solidFill>
              <a:srgbClr val="CFEAF5"/>
            </a:solidFill>
            <a:prstDash val="solid"/>
          </a:ln>
          <a:effectLst>
            <a:outerShdw sx="100000" sy="100000" kx="0" ky="0" algn="bl" rotWithShape="0" blurRad="114300" dist="38100" dir="8100000">
              <a:srgbClr val="08233E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691640"/>
            <a:ext cx="82296" cy="448056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Hướng phát triển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46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Hybrid retrieval: BM25 + embeddings (semantic rerank).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faithfulness/hallucination bằng RAGAS.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 streaming + bộ nhớ hội thoại đa lượt.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đồng bộ KB từ database menu của nhà hàng.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0823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Mở rộng golden set + nhiều người gán nhãn.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07040" y="6400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7A9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2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5BAC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663440"/>
            <a:ext cx="3291840" cy="3291840"/>
          </a:xfrm>
          <a:prstGeom prst="ellipse">
            <a:avLst/>
          </a:prstGeom>
          <a:solidFill>
            <a:srgbClr val="0067C7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1097280"/>
            <a:ext cx="2926080" cy="2926080"/>
          </a:xfrm>
          <a:prstGeom prst="ellipse">
            <a:avLst/>
          </a:prstGeom>
          <a:solidFill>
            <a:srgbClr val="00A99D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08B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A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Chatbot RAG bám sát dữ liệu nhà hàng — trả lời có nguồn, đúng phạm vi.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A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toàn nhiều lớp: guardrails + output parser; AI không tự đặt đơn.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EAF7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định lượng minh bạch và tích hợp vào hệ thống thật.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Xin cảm ơn thầy cô đã lắng nghe!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8BCE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Rất mong nhận được câu hỏi &amp; góp ý  ·  Q&amp;A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đặt món nhà hàng — LLM &amp; RAG</dc:title>
  <dc:subject>PptxGenJS Presentation</dc:subject>
  <dc:creator>CMC University</dc:creator>
  <cp:lastModifiedBy>CMC University</cp:lastModifiedBy>
  <cp:revision>1</cp:revision>
  <dcterms:created xsi:type="dcterms:W3CDTF">2026-06-23T01:20:20Z</dcterms:created>
  <dcterms:modified xsi:type="dcterms:W3CDTF">2026-06-23T01:20:20Z</dcterms:modified>
</cp:coreProperties>
</file>